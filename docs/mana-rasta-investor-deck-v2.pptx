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F8AE-7EBF-939C-4900-A0A39B363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52444-C5CC-8D37-4EE7-39475DD4F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3CBDA-BCD1-C7D8-B2A3-F8E39A00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E0CE1-A19F-B3DF-1066-4B110CA66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180A1-6963-8651-D2B4-C401B6BD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0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1BBE-E26F-FA9D-B74F-78DDD0B2A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22CA0-1C87-D3A0-4B13-8BD29453B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052F8-F968-A1C5-82D3-126DAA29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E72AE-0F79-820E-2FAF-5EAF22FE8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7E07E-BD67-9043-7613-B82132D1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30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1EB8-992E-008B-E8A3-F47188BE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D756E-2504-6EB7-697D-C47FFBD32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22E96-D6D1-8F8D-8077-F35FC7600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DE342-6EF0-AD49-14A2-8E6B996D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9ADDC-A60C-3280-2DC9-D9DEABCA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367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7A3BA-9E05-D6CB-877A-0361D9CA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007F1-F212-5CFA-C8AB-86CFD6151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37130-1EC5-414F-27FF-982622650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874D7-04C0-A744-A097-FE65F046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289D7-9BEF-A7CF-0170-30B1185EA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2AB9E-6F9D-E058-CB2D-867904C9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2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FADF-E823-4A91-024F-5207D153F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01ED4-D4AE-C601-2392-250CCA8A8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0FA69-9722-0A82-816F-AA19D44A2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42C6B-D03C-2072-3740-A98D704F4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08395-3DE4-584A-C22C-CF153AA4FD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89F881-5F60-9750-0238-B7B91516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9D0B77-5F38-F72C-6CFA-89EB505E3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40CD7B-F49F-95E0-580B-5FAC36A0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22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6467-91BB-724D-FE2E-F8725809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B15BB9-CFE2-4567-BED0-DA5C1CEEF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87C0B-956C-C33E-41C0-5C181FD29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83330-2338-30B5-6136-9B6F68AC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54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FAE4D-8413-A687-69AC-56ACAAFE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940EF-BACB-DECF-CA6C-8CC12DF3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165A6-107F-4A7F-1915-74DF5070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890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1216-E41E-AE7E-CF34-0EC091A8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0A26-CF91-6D2D-59E5-3F0D86431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C5BC9-C21F-B538-DF30-06CD6E6B7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AE9C3-A359-D395-B63B-C23C6EA3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4CC4A-ADB4-E54F-2EF5-6953C5AE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7AB4A-DA7D-F57F-B87D-BDAB658F4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821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8CF6D-C720-4CF6-887F-CB50C60B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87A9A-FE11-433A-43D7-D8B8931D9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02022-05D3-1254-6E2C-95668A921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CE65-677B-BDB6-43EB-EF6E0BD3D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93555-4AD3-8B42-C58B-C37437CE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F70B6-A555-2CFD-018C-7488775A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848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EB06-B0CF-7381-68F2-5E30E0FF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67E51-EB32-42B3-9BB9-A2743F693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AB41E-31AF-C958-3DFB-F92B9D10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0EB0B-2762-404C-FB1B-B21748B3A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33384-F2F7-80A5-6127-3752A990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42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B26E6F-4C81-B8A9-2EF1-1F01986C18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A696B-FF8E-7010-B066-D621D0A15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A8CE7-914B-60A3-9387-C19DD524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66709-E555-CC7C-2BBE-BCF0D6AC5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17301-CC4C-36A4-BB66-E854B74F0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50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27AEEB-4CFA-368F-4AE7-B28D9A57C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78C30-6B0C-BAB7-816E-6BF83B846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B1733-614B-F092-6BD4-50289B19A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28565F-BBDB-4CC2-83C4-E1FCEA1C0808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B2692-EB3D-8D97-A309-C99DE3850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E3E7D-C015-9189-BE64-7FB231282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E648B-9351-42B3-A4C5-721D57C67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62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E6AA80-0826-728E-38AE-1833B9CC00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4E925-4B94-DDB1-E8F5-EE4D648E484A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1476DF-520F-47BE-AC34-19A66986CC60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8A335-90B9-1306-7377-2A5605021997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5C1983-C549-9945-AF0F-96246A070587}"/>
              </a:ext>
            </a:extLst>
          </p:cNvPr>
          <p:cNvSpPr txBox="1"/>
          <p:nvPr/>
        </p:nvSpPr>
        <p:spPr>
          <a:xfrm>
            <a:off x="508000" y="5334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F5A623"/>
                </a:solidFill>
                <a:latin typeface="Segoe UI" panose="020B0502040204020203" pitchFamily="34" charset="0"/>
              </a:rPr>
              <a:t>INVESTOR DECK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A788D-B483-4A60-FDD4-45ED9B93B4BC}"/>
              </a:ext>
            </a:extLst>
          </p:cNvPr>
          <p:cNvSpPr txBox="1"/>
          <p:nvPr/>
        </p:nvSpPr>
        <p:spPr>
          <a:xfrm>
            <a:off x="508000" y="1143000"/>
            <a:ext cx="5334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FFFFFF"/>
                </a:solidFill>
                <a:latin typeface="Georgia" panose="02040502050405020303" pitchFamily="18" charset="0"/>
              </a:rPr>
              <a:t>Mana Rasta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929478-5128-8281-9EEE-7483CAE69882}"/>
              </a:ext>
            </a:extLst>
          </p:cNvPr>
          <p:cNvSpPr txBox="1"/>
          <p:nvPr/>
        </p:nvSpPr>
        <p:spPr>
          <a:xfrm>
            <a:off x="508000" y="1968500"/>
            <a:ext cx="7874000" cy="9694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900">
                <a:solidFill>
                  <a:srgbClr val="F8EEE8"/>
                </a:solidFill>
                <a:latin typeface="Segoe UI" panose="020B0502040204020203" pitchFamily="34" charset="0"/>
              </a:rPr>
              <a:t>A civic reporting platform for Hyderabad that improves pothole reporting quality, operational visibility, and citizen participation through guided capture, analytics, and incentives.</a:t>
            </a:r>
            <a:endParaRPr lang="en-IN" sz="1900">
              <a:solidFill>
                <a:srgbClr val="F8EEE8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5F8412-39C5-11E6-1A3A-777EBA5DD2F6}"/>
              </a:ext>
            </a:extLst>
          </p:cNvPr>
          <p:cNvSpPr txBox="1"/>
          <p:nvPr/>
        </p:nvSpPr>
        <p:spPr>
          <a:xfrm>
            <a:off x="508000" y="3429000"/>
            <a:ext cx="8128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F8EEE8"/>
                </a:solidFill>
                <a:latin typeface="Segoe UI" panose="020B0502040204020203" pitchFamily="34" charset="0"/>
              </a:rPr>
              <a:t>? Citizen mobile app, admin dashboard, backend workflow stack, and capture-analysis service already exist</a:t>
            </a:r>
          </a:p>
          <a:p>
            <a:r>
              <a:rPr lang="en-GB" sz="1700">
                <a:solidFill>
                  <a:srgbClr val="F8EEE8"/>
                </a:solidFill>
                <a:latin typeface="Segoe UI" panose="020B0502040204020203" pitchFamily="34" charset="0"/>
              </a:rPr>
              <a:t>? Built around civic responsibility: faster reporting, better evidence, clearer follow-through</a:t>
            </a:r>
          </a:p>
          <a:p>
            <a:r>
              <a:rPr lang="en-GB" sz="1700">
                <a:solidFill>
                  <a:srgbClr val="F8EEE8"/>
                </a:solidFill>
                <a:latin typeface="Segoe UI" panose="020B0502040204020203" pitchFamily="34" charset="0"/>
              </a:rPr>
              <a:t>? Gamification encourages valid participation rather than vanity engagement</a:t>
            </a:r>
          </a:p>
          <a:p>
            <a:r>
              <a:rPr lang="en-GB" sz="1700">
                <a:solidFill>
                  <a:srgbClr val="F8EEE8"/>
                </a:solidFill>
                <a:latin typeface="Segoe UI" panose="020B0502040204020203" pitchFamily="34" charset="0"/>
              </a:rPr>
              <a:t>? The same platform can expand from potholes to broader civic issues over time</a:t>
            </a:r>
            <a:endParaRPr lang="en-IN" sz="1700">
              <a:solidFill>
                <a:srgbClr val="F8EEE8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5F3966-B0BE-D485-1605-269AE4B6385E}"/>
              </a:ext>
            </a:extLst>
          </p:cNvPr>
          <p:cNvSpPr/>
          <p:nvPr/>
        </p:nvSpPr>
        <p:spPr>
          <a:xfrm>
            <a:off x="9144000" y="1778000"/>
            <a:ext cx="2286000" cy="2286000"/>
          </a:xfrm>
          <a:prstGeom prst="rect">
            <a:avLst/>
          </a:prstGeom>
          <a:solidFill>
            <a:srgbClr val="57361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6CADF3-28D2-CA63-3157-212B4F38A215}"/>
              </a:ext>
            </a:extLst>
          </p:cNvPr>
          <p:cNvSpPr txBox="1"/>
          <p:nvPr/>
        </p:nvSpPr>
        <p:spPr>
          <a:xfrm>
            <a:off x="9626600" y="2438400"/>
            <a:ext cx="1397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Georgia" panose="02040502050405020303" pitchFamily="18" charset="0"/>
              </a:rPr>
              <a:t>Mana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F8023A-9C9A-DC5E-9311-88CBA696F92F}"/>
              </a:ext>
            </a:extLst>
          </p:cNvPr>
          <p:cNvSpPr txBox="1"/>
          <p:nvPr/>
        </p:nvSpPr>
        <p:spPr>
          <a:xfrm>
            <a:off x="9474200" y="2870200"/>
            <a:ext cx="177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5A623"/>
                </a:solidFill>
                <a:latin typeface="Georgia" panose="02040502050405020303" pitchFamily="18" charset="0"/>
              </a:rPr>
              <a:t>Rasta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EB70A8-C083-4D20-5736-311D612CB1AC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AD9CCC-ACB7-F03C-E88B-FFDE5E957303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64298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13978D-79ED-2040-4872-5CEFE76B80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034B9-CC3F-F7B3-D9BB-143A41FCB352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E64D9E-1E32-6A36-6653-8A81EB716572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CF525C-E025-C2F0-4C87-512BB8506562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A32160-5ABA-25BC-1DE2-EBDFECE422DF}"/>
              </a:ext>
            </a:extLst>
          </p:cNvPr>
          <p:cNvSpPr txBox="1"/>
          <p:nvPr/>
        </p:nvSpPr>
        <p:spPr>
          <a:xfrm>
            <a:off x="508000" y="431800"/>
            <a:ext cx="609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002B5C"/>
                </a:solidFill>
                <a:latin typeface="Segoe UI" panose="020B0502040204020203" pitchFamily="34" charset="0"/>
              </a:rPr>
              <a:t>Why the app was built</a:t>
            </a:r>
            <a:endParaRPr lang="en-IN" sz="24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D5A09-C9AA-CC71-20D5-D5633CF96DAF}"/>
              </a:ext>
            </a:extLst>
          </p:cNvPr>
          <p:cNvSpPr txBox="1"/>
          <p:nvPr/>
        </p:nvSpPr>
        <p:spPr>
          <a:xfrm>
            <a:off x="508000" y="939800"/>
            <a:ext cx="7874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6B7680"/>
                </a:solidFill>
                <a:latin typeface="Segoe UI" panose="020B0502040204020203" pitchFamily="34" charset="0"/>
              </a:rPr>
              <a:t>Potholes are a repeated civic problem, but reporting systems usually suffer from poor evidence, weak ownership, and low public trust.</a:t>
            </a:r>
            <a:endParaRPr lang="en-IN" sz="15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F1A703-09E3-1FEF-2EC1-9084FF491D60}"/>
              </a:ext>
            </a:extLst>
          </p:cNvPr>
          <p:cNvSpPr txBox="1"/>
          <p:nvPr/>
        </p:nvSpPr>
        <p:spPr>
          <a:xfrm>
            <a:off x="508000" y="1778000"/>
            <a:ext cx="6350000" cy="20928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Citizens need a simple way to report road defects with confidence that their effort matters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Administrators need better image quality, precise location, and structured workflow data to act faster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Visible progress after submission builds trust and turns reporting into repeat civic behavior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Incentives make responsibility scalable when they are tied to valid reports and governed well</a:t>
            </a:r>
            <a:endParaRPr lang="en-IN" sz="17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407E6E-CC01-2C0B-CC81-7AECD2A4ADA4}"/>
              </a:ext>
            </a:extLst>
          </p:cNvPr>
          <p:cNvSpPr/>
          <p:nvPr/>
        </p:nvSpPr>
        <p:spPr>
          <a:xfrm>
            <a:off x="7366000" y="1778000"/>
            <a:ext cx="3683000" cy="1295400"/>
          </a:xfrm>
          <a:prstGeom prst="rect">
            <a:avLst/>
          </a:prstGeom>
          <a:solidFill>
            <a:srgbClr val="FFF8E7"/>
          </a:solidFill>
          <a:ln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D12C6-49DC-BBD8-8B12-CD7209645B5B}"/>
              </a:ext>
            </a:extLst>
          </p:cNvPr>
          <p:cNvSpPr txBox="1"/>
          <p:nvPr/>
        </p:nvSpPr>
        <p:spPr>
          <a:xfrm>
            <a:off x="7620000" y="2032000"/>
            <a:ext cx="304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2B5C"/>
                </a:solidFill>
                <a:latin typeface="Segoe UI" panose="020B0502040204020203" pitchFamily="34" charset="0"/>
              </a:rPr>
              <a:t>Core need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B1BFA-BE24-B080-A40B-6B2811B6555B}"/>
              </a:ext>
            </a:extLst>
          </p:cNvPr>
          <p:cNvSpPr txBox="1"/>
          <p:nvPr/>
        </p:nvSpPr>
        <p:spPr>
          <a:xfrm>
            <a:off x="7620000" y="2387600"/>
            <a:ext cx="3048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6B7680"/>
                </a:solidFill>
                <a:latin typeface="Segoe UI" panose="020B0502040204020203" pitchFamily="34" charset="0"/>
              </a:rPr>
              <a:t>Turn an unstructured complaint into a guided, trustworthy civic workflow.</a:t>
            </a:r>
            <a:endParaRPr lang="en-IN" sz="15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CF907B-45B7-5A38-9AD8-650AF5DCF03D}"/>
              </a:ext>
            </a:extLst>
          </p:cNvPr>
          <p:cNvSpPr/>
          <p:nvPr/>
        </p:nvSpPr>
        <p:spPr>
          <a:xfrm>
            <a:off x="7366000" y="3403600"/>
            <a:ext cx="3683000" cy="1422400"/>
          </a:xfrm>
          <a:prstGeom prst="rect">
            <a:avLst/>
          </a:prstGeom>
          <a:solidFill>
            <a:srgbClr val="E7F8FF"/>
          </a:solidFill>
          <a:ln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9B8BD8-EA7C-A0EC-7DF2-E55EE6E8B338}"/>
              </a:ext>
            </a:extLst>
          </p:cNvPr>
          <p:cNvSpPr txBox="1"/>
          <p:nvPr/>
        </p:nvSpPr>
        <p:spPr>
          <a:xfrm>
            <a:off x="7620000" y="3683000"/>
            <a:ext cx="304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2B5C"/>
                </a:solidFill>
                <a:latin typeface="Segoe UI" panose="020B0502040204020203" pitchFamily="34" charset="0"/>
              </a:rPr>
              <a:t>Value created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475278-13AC-61FE-0190-5391EA4C2B13}"/>
              </a:ext>
            </a:extLst>
          </p:cNvPr>
          <p:cNvSpPr txBox="1"/>
          <p:nvPr/>
        </p:nvSpPr>
        <p:spPr>
          <a:xfrm>
            <a:off x="7620000" y="4038600"/>
            <a:ext cx="3048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500">
                <a:solidFill>
                  <a:srgbClr val="6B7680"/>
                </a:solidFill>
                <a:latin typeface="Segoe UI" panose="020B0502040204020203" pitchFamily="34" charset="0"/>
              </a:rPr>
              <a:t>Better reporting quality for operations and a stronger feedback loop for citizens.</a:t>
            </a:r>
            <a:endParaRPr lang="en-IN" sz="15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3729C-D6B8-65F0-A370-36CF927FE236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699464-D3A0-0F32-9AC9-7A4A234B5482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96046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FCEFAE-1530-0E77-B1F5-DB8A05930E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AFA4E0-B15B-C16C-888A-1BB0F566F806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C1AF7F-C061-ED03-6CA6-EDF548A28A54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5BDA43-3CCC-F900-7369-C9FF1614E097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0ADF7-C894-5822-728A-DE6D83A9E8C8}"/>
              </a:ext>
            </a:extLst>
          </p:cNvPr>
          <p:cNvSpPr txBox="1"/>
          <p:nvPr/>
        </p:nvSpPr>
        <p:spPr>
          <a:xfrm>
            <a:off x="508000" y="431800"/>
            <a:ext cx="736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002B5C"/>
                </a:solidFill>
                <a:latin typeface="Segoe UI" panose="020B0502040204020203" pitchFamily="34" charset="0"/>
              </a:rPr>
              <a:t>Citizen experience and incentive loop</a:t>
            </a:r>
            <a:endParaRPr lang="en-IN" sz="24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258F3-6F99-AD3E-C0C2-B78BDEA229CE}"/>
              </a:ext>
            </a:extLst>
          </p:cNvPr>
          <p:cNvSpPr txBox="1"/>
          <p:nvPr/>
        </p:nvSpPr>
        <p:spPr>
          <a:xfrm>
            <a:off x="508000" y="1016000"/>
            <a:ext cx="10414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Guided capture improves evidence quality before a report enters the system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Success states move users into tracking rather than uncertainty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Leaderboards, badges, and rewards reinforce responsible civic participation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The app already includes reporting, history, rewards, profile, notifications, and trust-building screens</a:t>
            </a:r>
            <a:endParaRPr lang="en-IN" sz="16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CA720-0AB5-B6A5-5175-9A88709137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200400"/>
            <a:ext cx="3302000" cy="355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DE034D-3B26-590B-40BD-26E0B8960C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0" y="3200400"/>
            <a:ext cx="3302000" cy="3556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A1ED26-D100-AF2C-94E1-37F767644DB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200400"/>
            <a:ext cx="3302000" cy="3556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6C440A-F5FC-80F7-ED36-56C28B58ED3F}"/>
              </a:ext>
            </a:extLst>
          </p:cNvPr>
          <p:cNvSpPr txBox="1"/>
          <p:nvPr/>
        </p:nvSpPr>
        <p:spPr>
          <a:xfrm>
            <a:off x="508000" y="6858000"/>
            <a:ext cx="203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002B5C"/>
                </a:solidFill>
                <a:latin typeface="Segoe UI" panose="020B0502040204020203" pitchFamily="34" charset="0"/>
              </a:rPr>
              <a:t>Capture module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EDF45D-ECC8-2AD4-BEC5-C68676FAC36B}"/>
              </a:ext>
            </a:extLst>
          </p:cNvPr>
          <p:cNvSpPr txBox="1"/>
          <p:nvPr/>
        </p:nvSpPr>
        <p:spPr>
          <a:xfrm>
            <a:off x="4064000" y="6858000"/>
            <a:ext cx="203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002B5C"/>
                </a:solidFill>
                <a:latin typeface="Segoe UI" panose="020B0502040204020203" pitchFamily="34" charset="0"/>
              </a:rPr>
              <a:t>Success screen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DE0B4-36B4-DAFA-8D0C-0F4839B62B0B}"/>
              </a:ext>
            </a:extLst>
          </p:cNvPr>
          <p:cNvSpPr txBox="1"/>
          <p:nvPr/>
        </p:nvSpPr>
        <p:spPr>
          <a:xfrm>
            <a:off x="7620000" y="6858000"/>
            <a:ext cx="228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 b="1">
                <a:solidFill>
                  <a:srgbClr val="002B5C"/>
                </a:solidFill>
                <a:latin typeface="Segoe UI" panose="020B0502040204020203" pitchFamily="34" charset="0"/>
              </a:rPr>
              <a:t>Leaderboard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AFDEAA-D9CE-68ED-3228-E82233DC337C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6C1736-915D-57CE-CD65-23DD8AA25DF5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7386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D3DCEC-DE29-48FD-ECA9-F5777CDCBB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B51C80-6E74-8186-480D-F7E0870A6C73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79EFF7-14B3-BC5A-3D11-8F7F97CD1B25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162125-CF22-36AF-DFBE-1854A64A031F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A3F38-24D9-7BA4-30BC-E4833E31CE21}"/>
              </a:ext>
            </a:extLst>
          </p:cNvPr>
          <p:cNvSpPr txBox="1"/>
          <p:nvPr/>
        </p:nvSpPr>
        <p:spPr>
          <a:xfrm>
            <a:off x="508000" y="431800"/>
            <a:ext cx="825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002B5C"/>
                </a:solidFill>
                <a:latin typeface="Segoe UI" panose="020B0502040204020203" pitchFamily="34" charset="0"/>
              </a:rPr>
              <a:t>Depth of system: dashboard, ML, and abuse resistance</a:t>
            </a:r>
            <a:endParaRPr lang="en-IN" sz="24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5DC93A-7861-409F-996B-FDAB21C89D79}"/>
              </a:ext>
            </a:extLst>
          </p:cNvPr>
          <p:cNvSpPr txBox="1"/>
          <p:nvPr/>
        </p:nvSpPr>
        <p:spPr>
          <a:xfrm>
            <a:off x="508000" y="1168400"/>
            <a:ext cx="5461000" cy="22159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The project already spans mobile app, backend services, admin dashboard, analytics, and a dedicated image-analysis layer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Machine learning narrows the problem by flagging weak captures and identifying likely pothole candidates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Fraud prevention includes moderation, duplicate-image checks, suspicious-pattern scoring, and capture logging</a:t>
            </a:r>
          </a:p>
          <a:p>
            <a:r>
              <a:rPr lang="en-GB" sz="1600">
                <a:solidFill>
                  <a:srgbClr val="6B7680"/>
                </a:solidFill>
                <a:latin typeface="Segoe UI" panose="020B0502040204020203" pitchFamily="34" charset="0"/>
              </a:rPr>
              <a:t>? Rate limiting helps protect OTP flows, report endpoints, and rewards from system abuse</a:t>
            </a:r>
            <a:endParaRPr lang="en-IN" sz="16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1BE1BD-3B54-B6F9-22C6-BC4BD063A6A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422400"/>
            <a:ext cx="5334000" cy="431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8DE126-2C3B-8310-6313-AB0AAA437659}"/>
              </a:ext>
            </a:extLst>
          </p:cNvPr>
          <p:cNvSpPr/>
          <p:nvPr/>
        </p:nvSpPr>
        <p:spPr>
          <a:xfrm>
            <a:off x="508000" y="4572000"/>
            <a:ext cx="5334000" cy="1397000"/>
          </a:xfrm>
          <a:prstGeom prst="rect">
            <a:avLst/>
          </a:prstGeom>
          <a:solidFill>
            <a:srgbClr val="E7F8FF"/>
          </a:solidFill>
          <a:ln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649966-BAC1-756E-C1D1-530C604452C5}"/>
              </a:ext>
            </a:extLst>
          </p:cNvPr>
          <p:cNvSpPr txBox="1"/>
          <p:nvPr/>
        </p:nvSpPr>
        <p:spPr>
          <a:xfrm>
            <a:off x="736600" y="4902200"/>
            <a:ext cx="48768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002B5C"/>
                </a:solidFill>
                <a:latin typeface="Segoe UI" panose="020B0502040204020203" pitchFamily="34" charset="0"/>
              </a:rPr>
              <a:t>ML matters because it raises the quality floor before operations teams spend time reviewing a report.</a:t>
            </a:r>
            <a:endParaRPr lang="en-IN" sz="16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9B62D0-C016-4AC9-5C9A-D812BE55D686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CAE596-1D8B-BC47-3D06-A159A018BE4F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896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2A09D-D410-F94E-D49A-2E39E969B8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C76BBC-7CC1-218A-2465-D6DA131A1661}"/>
              </a:ext>
            </a:extLst>
          </p:cNvPr>
          <p:cNvSpPr/>
          <p:nvPr/>
        </p:nvSpPr>
        <p:spPr>
          <a:xfrm>
            <a:off x="0" y="0"/>
            <a:ext cx="4064000" cy="101600"/>
          </a:xfrm>
          <a:prstGeom prst="rect">
            <a:avLst/>
          </a:prstGeom>
          <a:solidFill>
            <a:srgbClr val="FF993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718F64-54F8-092B-3D34-09EFFF31E497}"/>
              </a:ext>
            </a:extLst>
          </p:cNvPr>
          <p:cNvSpPr/>
          <p:nvPr/>
        </p:nvSpPr>
        <p:spPr>
          <a:xfrm>
            <a:off x="4064000" y="0"/>
            <a:ext cx="4064000" cy="1016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B78957-E9E6-33BF-78D8-444D283DAA85}"/>
              </a:ext>
            </a:extLst>
          </p:cNvPr>
          <p:cNvSpPr/>
          <p:nvPr/>
        </p:nvSpPr>
        <p:spPr>
          <a:xfrm>
            <a:off x="8128000" y="0"/>
            <a:ext cx="4064000" cy="101600"/>
          </a:xfrm>
          <a:prstGeom prst="rect">
            <a:avLst/>
          </a:prstGeom>
          <a:solidFill>
            <a:srgbClr val="05854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DD34B-DB65-F3E3-BFA2-1A16A2BF4B27}"/>
              </a:ext>
            </a:extLst>
          </p:cNvPr>
          <p:cNvSpPr txBox="1"/>
          <p:nvPr/>
        </p:nvSpPr>
        <p:spPr>
          <a:xfrm>
            <a:off x="508000" y="431800"/>
            <a:ext cx="660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400" b="1">
                <a:solidFill>
                  <a:srgbClr val="002B5C"/>
                </a:solidFill>
                <a:latin typeface="Segoe UI" panose="020B0502040204020203" pitchFamily="34" charset="0"/>
              </a:rPr>
              <a:t>Future scope and investment path</a:t>
            </a:r>
            <a:endParaRPr lang="en-IN" sz="24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EAB2E-35CD-0AD9-A6BF-3A64BCBF2995}"/>
              </a:ext>
            </a:extLst>
          </p:cNvPr>
          <p:cNvSpPr txBox="1"/>
          <p:nvPr/>
        </p:nvSpPr>
        <p:spPr>
          <a:xfrm>
            <a:off x="508000" y="1168400"/>
            <a:ext cx="6350000" cy="2354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Mana Rasta is pothole-first today, but the same workflow can extend to broken streetlights, footpath issues, waterlogging, and similar civic defects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The next milestone is production hardening: pilot rollout, stronger operations support, and formalized workflow ownership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Funding accelerates trained ML models, deployment readiness, and category expansion on top of an already-built base</a:t>
            </a:r>
          </a:p>
          <a:p>
            <a:r>
              <a:rPr lang="en-GB" sz="1700">
                <a:solidFill>
                  <a:srgbClr val="6B7680"/>
                </a:solidFill>
                <a:latin typeface="Segoe UI" panose="020B0502040204020203" pitchFamily="34" charset="0"/>
              </a:rPr>
              <a:t>? The long-term opportunity is a broader civic issue platform with better public participation and better municipal actionability</a:t>
            </a:r>
            <a:endParaRPr lang="en-IN" sz="1700">
              <a:solidFill>
                <a:srgbClr val="6B768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54571F-FFB6-FD5D-21BB-47BB79B0A352}"/>
              </a:ext>
            </a:extLst>
          </p:cNvPr>
          <p:cNvSpPr/>
          <p:nvPr/>
        </p:nvSpPr>
        <p:spPr>
          <a:xfrm>
            <a:off x="7493000" y="1397000"/>
            <a:ext cx="3810000" cy="3810000"/>
          </a:xfrm>
          <a:prstGeom prst="rect">
            <a:avLst/>
          </a:prstGeom>
          <a:solidFill>
            <a:srgbClr val="002B5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1B01F-5B8A-ADE0-9691-12345F8D8FB1}"/>
              </a:ext>
            </a:extLst>
          </p:cNvPr>
          <p:cNvSpPr txBox="1"/>
          <p:nvPr/>
        </p:nvSpPr>
        <p:spPr>
          <a:xfrm>
            <a:off x="7899400" y="1803400"/>
            <a:ext cx="292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>
                <a:solidFill>
                  <a:srgbClr val="FFFFFF"/>
                </a:solidFill>
                <a:latin typeface="Segoe UI" panose="020B0502040204020203" pitchFamily="34" charset="0"/>
              </a:rPr>
              <a:t>Expansion categories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91BF7-C6DE-638D-1A4B-A0D2D69AD36D}"/>
              </a:ext>
            </a:extLst>
          </p:cNvPr>
          <p:cNvSpPr txBox="1"/>
          <p:nvPr/>
        </p:nvSpPr>
        <p:spPr>
          <a:xfrm>
            <a:off x="7899400" y="2387600"/>
            <a:ext cx="279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8EEE8"/>
                </a:solidFill>
                <a:latin typeface="Segoe UI" panose="020B0502040204020203" pitchFamily="34" charset="0"/>
              </a:rPr>
              <a:t>? Broken streetlights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FD9B3-8C58-823C-1721-955DE140D3A6}"/>
              </a:ext>
            </a:extLst>
          </p:cNvPr>
          <p:cNvSpPr txBox="1"/>
          <p:nvPr/>
        </p:nvSpPr>
        <p:spPr>
          <a:xfrm>
            <a:off x="7899400" y="2946400"/>
            <a:ext cx="279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8EEE8"/>
                </a:solidFill>
                <a:latin typeface="Segoe UI" panose="020B0502040204020203" pitchFamily="34" charset="0"/>
              </a:rPr>
              <a:t>? Footpath issues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DAFD8-FC4F-D122-56DB-D69C87FDC527}"/>
              </a:ext>
            </a:extLst>
          </p:cNvPr>
          <p:cNvSpPr txBox="1"/>
          <p:nvPr/>
        </p:nvSpPr>
        <p:spPr>
          <a:xfrm>
            <a:off x="7899400" y="3505200"/>
            <a:ext cx="279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8EEE8"/>
                </a:solidFill>
                <a:latin typeface="Segoe UI" panose="020B0502040204020203" pitchFamily="34" charset="0"/>
              </a:rPr>
              <a:t>? Waterlogging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40C483-5B6C-9F22-E1C0-0B07653BD4E8}"/>
              </a:ext>
            </a:extLst>
          </p:cNvPr>
          <p:cNvSpPr txBox="1"/>
          <p:nvPr/>
        </p:nvSpPr>
        <p:spPr>
          <a:xfrm>
            <a:off x="7899400" y="4064000"/>
            <a:ext cx="279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>
                <a:solidFill>
                  <a:srgbClr val="F8EEE8"/>
                </a:solidFill>
                <a:latin typeface="Segoe UI" panose="020B0502040204020203" pitchFamily="34" charset="0"/>
              </a:rPr>
              <a:t>? Other urban defects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B23598-968F-69D6-57BB-694692C2BC7F}"/>
              </a:ext>
            </a:extLst>
          </p:cNvPr>
          <p:cNvSpPr txBox="1"/>
          <p:nvPr/>
        </p:nvSpPr>
        <p:spPr>
          <a:xfrm>
            <a:off x="508000" y="5334000"/>
            <a:ext cx="10922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000" b="1">
                <a:solidFill>
                  <a:srgbClr val="002B5C"/>
                </a:solidFill>
                <a:latin typeface="Segoe UI" panose="020B0502040204020203" pitchFamily="34" charset="0"/>
              </a:rPr>
              <a:t>Mana Rasta combines civic responsibility, operational practicality, and well-governed incentives into a product with real platform potential.</a:t>
            </a:r>
            <a:endParaRPr lang="en-IN" sz="2000" b="1">
              <a:solidFill>
                <a:srgbClr val="002B5C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412AB9-DCD5-6E26-B8F3-B18AB09A4500}"/>
              </a:ext>
            </a:extLst>
          </p:cNvPr>
          <p:cNvSpPr txBox="1"/>
          <p:nvPr/>
        </p:nvSpPr>
        <p:spPr>
          <a:xfrm>
            <a:off x="508000" y="6553200"/>
            <a:ext cx="279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Mana Rasta Investor Deck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329449-8A54-12CE-9FD4-555848A3340F}"/>
              </a:ext>
            </a:extLst>
          </p:cNvPr>
          <p:cNvSpPr txBox="1"/>
          <p:nvPr/>
        </p:nvSpPr>
        <p:spPr>
          <a:xfrm>
            <a:off x="11430000" y="6553200"/>
            <a:ext cx="25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IN" sz="1000">
                <a:solidFill>
                  <a:srgbClr val="AFA39C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6108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</Words>
  <Application>Microsoft Office PowerPoint</Application>
  <PresentationFormat>Widescreen</PresentationFormat>
  <Paragraphs>54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SIDS</dc:creator>
  <cp:lastModifiedBy>SIDS</cp:lastModifiedBy>
  <cp:revision>1</cp:revision>
  <dcterms:created xsi:type="dcterms:W3CDTF">2026-04-15T08:24:29Z</dcterms:created>
  <dcterms:modified xsi:type="dcterms:W3CDTF">2026-04-15T08:24:29Z</dcterms:modified>
</cp:coreProperties>
</file>