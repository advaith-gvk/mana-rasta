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47" d="100"/>
          <a:sy n="47" d="100"/>
        </p:scale>
        <p:origin x="1027" y="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9DC31B-A9EB-7E13-712F-A4603D93EBA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90C3214-6671-645B-CFE5-AC8E03C0329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7AC164-D5A3-38F5-D159-8E5F481DA9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30B4BC-D824-4D25-A0BE-955C06343F81}" type="datetimeFigureOut">
              <a:rPr lang="en-IN" smtClean="0"/>
              <a:t>15-04-2026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F23430-179E-67C6-108C-C496140DEF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9AAD46-F1E4-DC22-EA9C-E7D8AFD188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3A6B4F-F07E-4531-9778-049D948425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067069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652466-BC0D-ABF3-9D7B-9EC5527EF2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485BCD-616C-CE21-94E3-204CA0F025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D8B913-CE35-A797-1745-A01A2B175C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30B4BC-D824-4D25-A0BE-955C06343F81}" type="datetimeFigureOut">
              <a:rPr lang="en-IN" smtClean="0"/>
              <a:t>15-04-2026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976A5C-E50C-045C-E14D-419FB96D5E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CDC900-4AB9-BA28-CCE0-8425F7AFF2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3A6B4F-F07E-4531-9778-049D948425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145715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07847F-2FE2-5B73-03AC-A35201CE31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041565D-7576-EBE2-4EAE-27C110309D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2A70E5-9670-3E74-DF5B-99E9346D62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30B4BC-D824-4D25-A0BE-955C06343F81}" type="datetimeFigureOut">
              <a:rPr lang="en-IN" smtClean="0"/>
              <a:t>15-04-2026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DB6B73-834F-1A2A-FB7C-2EBDBF7F9E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4C1952-FAEB-F5F8-5ABC-841483F832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3A6B4F-F07E-4531-9778-049D948425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153423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AA911B-87B0-C392-6BDD-8B7AE72EE4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D82689-BA94-295F-3F8C-420839BD83F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CE15751-541B-CFA8-E3CC-9E4EF5BE6AB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37DD17F-6174-7EDB-BB3C-3171135376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30B4BC-D824-4D25-A0BE-955C06343F81}" type="datetimeFigureOut">
              <a:rPr lang="en-IN" smtClean="0"/>
              <a:t>15-04-2026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FCAE32E-E089-2C5B-6082-E2C720B279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65C6B73-C637-F059-0C91-FE190FDB17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3A6B4F-F07E-4531-9778-049D948425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306864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0AE3CD-83AB-45A0-879A-5F16905AE4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DE3952-382A-DEE5-6587-F5EF93020D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C06D7AA-B3E4-754E-5CA3-0B5C78BD9FC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B081C9B-DF8B-F118-D51C-2407A9A4D59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9C9D5B4-019E-8998-4702-2EF4000A8B6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B98B216-7637-A856-A356-38EBFDA19E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30B4BC-D824-4D25-A0BE-955C06343F81}" type="datetimeFigureOut">
              <a:rPr lang="en-IN" smtClean="0"/>
              <a:t>15-04-2026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3D5C3CA-31DA-AC28-5082-EBFCDE6C92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4128685-0764-0FFF-9FB6-4217532625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3A6B4F-F07E-4531-9778-049D948425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311721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418808-B3E3-E1B0-2A3E-471C8F00ED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394A18B-9485-FCE9-59C6-4570885231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30B4BC-D824-4D25-A0BE-955C06343F81}" type="datetimeFigureOut">
              <a:rPr lang="en-IN" smtClean="0"/>
              <a:t>15-04-2026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523D9D1-720B-E73A-3518-207688F5A1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54A91E7-D265-78F6-F4C5-99B7E5AAD6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3A6B4F-F07E-4531-9778-049D948425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404600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DC65DDB-74CB-BC01-956C-E51BE76400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30B4BC-D824-4D25-A0BE-955C06343F81}" type="datetimeFigureOut">
              <a:rPr lang="en-IN" smtClean="0"/>
              <a:t>15-04-2026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468C766-FF66-6F63-F1E2-F0312E0062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432252-F4B1-535A-4D2F-111ADE180F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3A6B4F-F07E-4531-9778-049D948425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084300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0FEDD0-F27A-0E8A-0FEF-6B13D491F8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DE9912-8E58-9AB5-2EF2-F881029C88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C3C5BD4-0613-F33C-B6C2-C627E407611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A2A3631-A9FA-936A-1074-1C5E0B637F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30B4BC-D824-4D25-A0BE-955C06343F81}" type="datetimeFigureOut">
              <a:rPr lang="en-IN" smtClean="0"/>
              <a:t>15-04-2026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52A5EB8-6EC5-FB56-A8B6-0F02012026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04F3E7D-C506-01BC-2A65-B46B78FF0B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3A6B4F-F07E-4531-9778-049D948425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422217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69ABCB-C91B-2FCD-720F-96BEA2A2DD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F3D3DA5-B1B9-BA2C-3907-F007F80CF3F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2DB8689-FA32-C9E6-4321-B279DEA38F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E80CD88-D424-3F6E-7AC6-DD750376BD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30B4BC-D824-4D25-A0BE-955C06343F81}" type="datetimeFigureOut">
              <a:rPr lang="en-IN" smtClean="0"/>
              <a:t>15-04-2026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6F31CD-2FFD-AD9E-89D2-34D981BEE4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9F92F78-F2CB-50C6-3F38-38D7259157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3A6B4F-F07E-4531-9778-049D948425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68860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12E2A0-0A63-67AA-2957-F38595AD7B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65B5CEC-D740-9D92-E101-728583AEA1B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C14DEC-E3A7-3B22-D6C8-D297455B27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30B4BC-D824-4D25-A0BE-955C06343F81}" type="datetimeFigureOut">
              <a:rPr lang="en-IN" smtClean="0"/>
              <a:t>15-04-2026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85D0FD-3C03-10EE-3E3B-83FBCE9F64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EE15BF-413C-0C2A-883F-9D5B0EF42A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3A6B4F-F07E-4531-9778-049D948425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506635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E065644-C5E3-2D4D-AC48-97062FFCEDF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27CF728-0059-DA1B-28EC-D6C9EED1D53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132EA6-4BEE-9B65-121D-6D817478B9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30B4BC-D824-4D25-A0BE-955C06343F81}" type="datetimeFigureOut">
              <a:rPr lang="en-IN" smtClean="0"/>
              <a:t>15-04-2026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928267-9D0A-F685-42D2-60FBAB2F68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92345B-F733-F72D-882A-EBAEEF9B98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3A6B4F-F07E-4531-9778-049D948425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693848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40AB6ED-6810-F01B-DFF2-A341EC48F2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E8CF1D-C32A-C2F7-867D-B9484BEF81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6F897B-4D23-338F-A54D-E40A23AB01C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630B4BC-D824-4D25-A0BE-955C06343F81}" type="datetimeFigureOut">
              <a:rPr lang="en-IN" smtClean="0"/>
              <a:t>15-04-2026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39980F-8978-229D-95AF-673C0624D07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3ECA28-6148-0DDB-6DB6-403EA24A5ED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C3A6B4F-F07E-4531-9778-049D948425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368345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F6DA478-B058-DEC6-8FE4-DF7E0A2AC7A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2B5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F2BCE7D-F302-48FF-0201-B6A91A4D369B}"/>
              </a:ext>
            </a:extLst>
          </p:cNvPr>
          <p:cNvSpPr/>
          <p:nvPr/>
        </p:nvSpPr>
        <p:spPr>
          <a:xfrm>
            <a:off x="0" y="0"/>
            <a:ext cx="4064000" cy="101600"/>
          </a:xfrm>
          <a:prstGeom prst="rect">
            <a:avLst/>
          </a:prstGeom>
          <a:solidFill>
            <a:srgbClr val="FF993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827740C-92C3-0CEA-7A20-4AE8FB1CF24D}"/>
              </a:ext>
            </a:extLst>
          </p:cNvPr>
          <p:cNvSpPr/>
          <p:nvPr/>
        </p:nvSpPr>
        <p:spPr>
          <a:xfrm>
            <a:off x="4064000" y="0"/>
            <a:ext cx="4064000" cy="1016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F469910-4430-E803-2DD0-2C76FB1F3E12}"/>
              </a:ext>
            </a:extLst>
          </p:cNvPr>
          <p:cNvSpPr/>
          <p:nvPr/>
        </p:nvSpPr>
        <p:spPr>
          <a:xfrm>
            <a:off x="8128000" y="0"/>
            <a:ext cx="4064000" cy="101600"/>
          </a:xfrm>
          <a:prstGeom prst="rect">
            <a:avLst/>
          </a:prstGeom>
          <a:solidFill>
            <a:srgbClr val="05854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9803D9C-70A4-850A-2658-45D2B2CBC3DA}"/>
              </a:ext>
            </a:extLst>
          </p:cNvPr>
          <p:cNvSpPr txBox="1"/>
          <p:nvPr/>
        </p:nvSpPr>
        <p:spPr>
          <a:xfrm>
            <a:off x="508000" y="533400"/>
            <a:ext cx="2032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1100" b="1">
                <a:solidFill>
                  <a:srgbClr val="F5A623"/>
                </a:solidFill>
                <a:latin typeface="Segoe UI" panose="020B0502040204020203" pitchFamily="34" charset="0"/>
              </a:rPr>
              <a:t>INVESTOR DECK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3335EFB-EED6-0EA6-5A29-7300C187CEA3}"/>
              </a:ext>
            </a:extLst>
          </p:cNvPr>
          <p:cNvSpPr txBox="1"/>
          <p:nvPr/>
        </p:nvSpPr>
        <p:spPr>
          <a:xfrm>
            <a:off x="508000" y="1143000"/>
            <a:ext cx="5334000" cy="55399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3000" b="1">
                <a:solidFill>
                  <a:srgbClr val="FFFFFF"/>
                </a:solidFill>
                <a:latin typeface="Georgia" panose="02040502050405020303" pitchFamily="18" charset="0"/>
              </a:rPr>
              <a:t>Mana Rasta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1567365-1F19-B70D-8B5B-8B245E2CC287}"/>
              </a:ext>
            </a:extLst>
          </p:cNvPr>
          <p:cNvSpPr txBox="1"/>
          <p:nvPr/>
        </p:nvSpPr>
        <p:spPr>
          <a:xfrm>
            <a:off x="508000" y="1968500"/>
            <a:ext cx="7874000" cy="96949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GB" sz="1900">
                <a:solidFill>
                  <a:srgbClr val="F8EEE8"/>
                </a:solidFill>
                <a:latin typeface="Segoe UI" panose="020B0502040204020203" pitchFamily="34" charset="0"/>
              </a:rPr>
              <a:t>A civic reporting platform for Hyderabad that improves pothole reporting quality, operational visibility, and citizen participation through guided capture, analytics, and incentives.</a:t>
            </a:r>
            <a:endParaRPr lang="en-IN" sz="1900">
              <a:solidFill>
                <a:srgbClr val="F8EEE8"/>
              </a:solidFill>
              <a:latin typeface="Segoe UI" panose="020B0502040204020203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67D3F01-D060-0558-C809-791E83DD3320}"/>
              </a:ext>
            </a:extLst>
          </p:cNvPr>
          <p:cNvSpPr txBox="1"/>
          <p:nvPr/>
        </p:nvSpPr>
        <p:spPr>
          <a:xfrm>
            <a:off x="508000" y="3429000"/>
            <a:ext cx="8128000" cy="156966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GB" sz="1700">
                <a:solidFill>
                  <a:srgbClr val="F8EEE8"/>
                </a:solidFill>
                <a:latin typeface="Segoe UI" panose="020B0502040204020203" pitchFamily="34" charset="0"/>
              </a:rPr>
              <a:t>? Citizen mobile app, admin dashboard, backend workflow stack, and capture-analysis service already exist</a:t>
            </a:r>
          </a:p>
          <a:p>
            <a:r>
              <a:rPr lang="en-GB" sz="1700">
                <a:solidFill>
                  <a:srgbClr val="F8EEE8"/>
                </a:solidFill>
                <a:latin typeface="Segoe UI" panose="020B0502040204020203" pitchFamily="34" charset="0"/>
              </a:rPr>
              <a:t>? Built around civic responsibility: faster reporting, better evidence, clearer follow-through</a:t>
            </a:r>
          </a:p>
          <a:p>
            <a:r>
              <a:rPr lang="en-GB" sz="1700">
                <a:solidFill>
                  <a:srgbClr val="F8EEE8"/>
                </a:solidFill>
                <a:latin typeface="Segoe UI" panose="020B0502040204020203" pitchFamily="34" charset="0"/>
              </a:rPr>
              <a:t>? Gamification encourages valid participation rather than vanity engagement</a:t>
            </a:r>
          </a:p>
          <a:p>
            <a:r>
              <a:rPr lang="en-GB" sz="1700">
                <a:solidFill>
                  <a:srgbClr val="F8EEE8"/>
                </a:solidFill>
                <a:latin typeface="Segoe UI" panose="020B0502040204020203" pitchFamily="34" charset="0"/>
              </a:rPr>
              <a:t>? The same platform can expand from potholes to broader civic issues over time</a:t>
            </a:r>
            <a:endParaRPr lang="en-IN" sz="1700">
              <a:solidFill>
                <a:srgbClr val="F8EEE8"/>
              </a:solidFill>
              <a:latin typeface="Segoe UI" panose="020B0502040204020203" pitchFamily="34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AF3ADCB-F623-2A96-05D0-5650BA0AEF7E}"/>
              </a:ext>
            </a:extLst>
          </p:cNvPr>
          <p:cNvSpPr/>
          <p:nvPr/>
        </p:nvSpPr>
        <p:spPr>
          <a:xfrm>
            <a:off x="9144000" y="1778000"/>
            <a:ext cx="2286000" cy="2286000"/>
          </a:xfrm>
          <a:prstGeom prst="rect">
            <a:avLst/>
          </a:prstGeom>
          <a:solidFill>
            <a:srgbClr val="573619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57E249F-C1CA-0D25-7802-52941C31C126}"/>
              </a:ext>
            </a:extLst>
          </p:cNvPr>
          <p:cNvSpPr txBox="1"/>
          <p:nvPr/>
        </p:nvSpPr>
        <p:spPr>
          <a:xfrm>
            <a:off x="9626600" y="2438400"/>
            <a:ext cx="13970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2400" b="1">
                <a:solidFill>
                  <a:srgbClr val="FFFFFF"/>
                </a:solidFill>
                <a:latin typeface="Georgia" panose="02040502050405020303" pitchFamily="18" charset="0"/>
              </a:rPr>
              <a:t>Mana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DF8197D-9285-2B84-C40E-B0DBCA4C334D}"/>
              </a:ext>
            </a:extLst>
          </p:cNvPr>
          <p:cNvSpPr txBox="1"/>
          <p:nvPr/>
        </p:nvSpPr>
        <p:spPr>
          <a:xfrm>
            <a:off x="9474200" y="2870200"/>
            <a:ext cx="17780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2400" b="1">
                <a:solidFill>
                  <a:srgbClr val="F5A623"/>
                </a:solidFill>
                <a:latin typeface="Georgia" panose="02040502050405020303" pitchFamily="18" charset="0"/>
              </a:rPr>
              <a:t>Rasta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814AD3E-90C1-12F1-101F-05AC88D12BC9}"/>
              </a:ext>
            </a:extLst>
          </p:cNvPr>
          <p:cNvSpPr txBox="1"/>
          <p:nvPr/>
        </p:nvSpPr>
        <p:spPr>
          <a:xfrm>
            <a:off x="508000" y="6553200"/>
            <a:ext cx="2794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1000">
                <a:solidFill>
                  <a:srgbClr val="AFA39C"/>
                </a:solidFill>
                <a:latin typeface="Segoe UI" panose="020B0502040204020203" pitchFamily="34" charset="0"/>
              </a:rPr>
              <a:t>Mana Rasta Investor Deck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59B932D-1E2E-B2F6-DC63-7AD2C3B3A7D0}"/>
              </a:ext>
            </a:extLst>
          </p:cNvPr>
          <p:cNvSpPr txBox="1"/>
          <p:nvPr/>
        </p:nvSpPr>
        <p:spPr>
          <a:xfrm>
            <a:off x="11430000" y="6553200"/>
            <a:ext cx="254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IN" sz="1000">
                <a:solidFill>
                  <a:srgbClr val="AFA39C"/>
                </a:solidFill>
                <a:latin typeface="Segoe UI" panose="020B0502040204020203" pitchFamily="34" charset="0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6688455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689ADB9-5198-C658-C1A0-CDB791103094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47349AD-E1CA-9324-8BDF-9D75E59EB3DE}"/>
              </a:ext>
            </a:extLst>
          </p:cNvPr>
          <p:cNvSpPr/>
          <p:nvPr/>
        </p:nvSpPr>
        <p:spPr>
          <a:xfrm>
            <a:off x="0" y="0"/>
            <a:ext cx="4064000" cy="101600"/>
          </a:xfrm>
          <a:prstGeom prst="rect">
            <a:avLst/>
          </a:prstGeom>
          <a:solidFill>
            <a:srgbClr val="FF993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63B8D12-06C4-B386-2563-9700CCBFA83F}"/>
              </a:ext>
            </a:extLst>
          </p:cNvPr>
          <p:cNvSpPr/>
          <p:nvPr/>
        </p:nvSpPr>
        <p:spPr>
          <a:xfrm>
            <a:off x="4064000" y="0"/>
            <a:ext cx="4064000" cy="1016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AD16326-8851-A968-5942-125C9A871A5D}"/>
              </a:ext>
            </a:extLst>
          </p:cNvPr>
          <p:cNvSpPr/>
          <p:nvPr/>
        </p:nvSpPr>
        <p:spPr>
          <a:xfrm>
            <a:off x="8128000" y="0"/>
            <a:ext cx="4064000" cy="101600"/>
          </a:xfrm>
          <a:prstGeom prst="rect">
            <a:avLst/>
          </a:prstGeom>
          <a:solidFill>
            <a:srgbClr val="05854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A4A11F1-925A-BAA8-4948-6FFBB2CD6D58}"/>
              </a:ext>
            </a:extLst>
          </p:cNvPr>
          <p:cNvSpPr txBox="1"/>
          <p:nvPr/>
        </p:nvSpPr>
        <p:spPr>
          <a:xfrm>
            <a:off x="508000" y="431800"/>
            <a:ext cx="60960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GB" sz="2400" b="1">
                <a:solidFill>
                  <a:srgbClr val="002B5C"/>
                </a:solidFill>
                <a:latin typeface="Segoe UI" panose="020B0502040204020203" pitchFamily="34" charset="0"/>
              </a:rPr>
              <a:t>Why the app was built</a:t>
            </a:r>
            <a:endParaRPr lang="en-IN" sz="2400" b="1">
              <a:solidFill>
                <a:srgbClr val="002B5C"/>
              </a:solidFill>
              <a:latin typeface="Segoe UI" panose="020B0502040204020203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8CF49A4-E188-7411-C4DC-B07CF98F0BDC}"/>
              </a:ext>
            </a:extLst>
          </p:cNvPr>
          <p:cNvSpPr txBox="1"/>
          <p:nvPr/>
        </p:nvSpPr>
        <p:spPr>
          <a:xfrm>
            <a:off x="508000" y="939800"/>
            <a:ext cx="7874000" cy="55399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GB" sz="1500">
                <a:solidFill>
                  <a:srgbClr val="6B7680"/>
                </a:solidFill>
                <a:latin typeface="Segoe UI" panose="020B0502040204020203" pitchFamily="34" charset="0"/>
              </a:rPr>
              <a:t>Potholes are a repeated civic problem, but reporting systems usually suffer from poor evidence, weak ownership, and low public trust.</a:t>
            </a:r>
            <a:endParaRPr lang="en-IN" sz="1500">
              <a:solidFill>
                <a:srgbClr val="6B7680"/>
              </a:solidFill>
              <a:latin typeface="Segoe UI" panose="020B0502040204020203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657D468-62F4-EE7D-5DD5-60FEA3055E5D}"/>
              </a:ext>
            </a:extLst>
          </p:cNvPr>
          <p:cNvSpPr txBox="1"/>
          <p:nvPr/>
        </p:nvSpPr>
        <p:spPr>
          <a:xfrm>
            <a:off x="508000" y="1778000"/>
            <a:ext cx="6350000" cy="209288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GB" sz="1700">
                <a:solidFill>
                  <a:srgbClr val="6B7680"/>
                </a:solidFill>
                <a:latin typeface="Segoe UI" panose="020B0502040204020203" pitchFamily="34" charset="0"/>
              </a:rPr>
              <a:t>? Citizens need a simple way to report road defects with confidence that their effort matters</a:t>
            </a:r>
          </a:p>
          <a:p>
            <a:r>
              <a:rPr lang="en-GB" sz="1700">
                <a:solidFill>
                  <a:srgbClr val="6B7680"/>
                </a:solidFill>
                <a:latin typeface="Segoe UI" panose="020B0502040204020203" pitchFamily="34" charset="0"/>
              </a:rPr>
              <a:t>? Administrators need better image quality, precise location, and structured workflow data to act faster</a:t>
            </a:r>
          </a:p>
          <a:p>
            <a:r>
              <a:rPr lang="en-GB" sz="1700">
                <a:solidFill>
                  <a:srgbClr val="6B7680"/>
                </a:solidFill>
                <a:latin typeface="Segoe UI" panose="020B0502040204020203" pitchFamily="34" charset="0"/>
              </a:rPr>
              <a:t>? Visible progress after submission builds trust and turns reporting into repeat civic behavior</a:t>
            </a:r>
          </a:p>
          <a:p>
            <a:r>
              <a:rPr lang="en-GB" sz="1700">
                <a:solidFill>
                  <a:srgbClr val="6B7680"/>
                </a:solidFill>
                <a:latin typeface="Segoe UI" panose="020B0502040204020203" pitchFamily="34" charset="0"/>
              </a:rPr>
              <a:t>? Incentives make responsibility scalable when they are tied to valid reports and governed well</a:t>
            </a:r>
            <a:endParaRPr lang="en-IN" sz="1700">
              <a:solidFill>
                <a:srgbClr val="6B7680"/>
              </a:solidFill>
              <a:latin typeface="Segoe UI" panose="020B0502040204020203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C3EF3A4-5E73-D532-64C0-7617CD63EAD1}"/>
              </a:ext>
            </a:extLst>
          </p:cNvPr>
          <p:cNvSpPr/>
          <p:nvPr/>
        </p:nvSpPr>
        <p:spPr>
          <a:xfrm>
            <a:off x="7366000" y="1778000"/>
            <a:ext cx="3683000" cy="1295400"/>
          </a:xfrm>
          <a:prstGeom prst="rect">
            <a:avLst/>
          </a:prstGeom>
          <a:solidFill>
            <a:srgbClr val="FFF8E7"/>
          </a:solidFill>
          <a:ln>
            <a:solidFill>
              <a:srgbClr val="F5A62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12ED782-42AC-4AEF-036C-ABB0170FE699}"/>
              </a:ext>
            </a:extLst>
          </p:cNvPr>
          <p:cNvSpPr txBox="1"/>
          <p:nvPr/>
        </p:nvSpPr>
        <p:spPr>
          <a:xfrm>
            <a:off x="7620000" y="2032000"/>
            <a:ext cx="3048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1600" b="1">
                <a:solidFill>
                  <a:srgbClr val="002B5C"/>
                </a:solidFill>
                <a:latin typeface="Segoe UI" panose="020B0502040204020203" pitchFamily="34" charset="0"/>
              </a:rPr>
              <a:t>Core need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205ACEC-48B9-741E-305E-4019FD82AF9B}"/>
              </a:ext>
            </a:extLst>
          </p:cNvPr>
          <p:cNvSpPr txBox="1"/>
          <p:nvPr/>
        </p:nvSpPr>
        <p:spPr>
          <a:xfrm>
            <a:off x="7620000" y="2387600"/>
            <a:ext cx="3048000" cy="78483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GB" sz="1500">
                <a:solidFill>
                  <a:srgbClr val="6B7680"/>
                </a:solidFill>
                <a:latin typeface="Segoe UI" panose="020B0502040204020203" pitchFamily="34" charset="0"/>
              </a:rPr>
              <a:t>Turn an unstructured complaint into a guided, trustworthy civic workflow.</a:t>
            </a:r>
            <a:endParaRPr lang="en-IN" sz="1500">
              <a:solidFill>
                <a:srgbClr val="6B7680"/>
              </a:solidFill>
              <a:latin typeface="Segoe UI" panose="020B0502040204020203" pitchFamily="34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6FD23F9-60E4-5010-F8F4-AD3B3C14F3A1}"/>
              </a:ext>
            </a:extLst>
          </p:cNvPr>
          <p:cNvSpPr/>
          <p:nvPr/>
        </p:nvSpPr>
        <p:spPr>
          <a:xfrm>
            <a:off x="7366000" y="3403600"/>
            <a:ext cx="3683000" cy="1422400"/>
          </a:xfrm>
          <a:prstGeom prst="rect">
            <a:avLst/>
          </a:prstGeom>
          <a:solidFill>
            <a:srgbClr val="E7F8FF"/>
          </a:solidFill>
          <a:ln>
            <a:solidFill>
              <a:srgbClr val="F5A62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2A953A1-5D0D-1FE2-1CC2-C92053EE9A7F}"/>
              </a:ext>
            </a:extLst>
          </p:cNvPr>
          <p:cNvSpPr txBox="1"/>
          <p:nvPr/>
        </p:nvSpPr>
        <p:spPr>
          <a:xfrm>
            <a:off x="7620000" y="3683000"/>
            <a:ext cx="3048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1600" b="1">
                <a:solidFill>
                  <a:srgbClr val="002B5C"/>
                </a:solidFill>
                <a:latin typeface="Segoe UI" panose="020B0502040204020203" pitchFamily="34" charset="0"/>
              </a:rPr>
              <a:t>Value created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73FB48A-E56F-7DD7-8442-9F3C05590991}"/>
              </a:ext>
            </a:extLst>
          </p:cNvPr>
          <p:cNvSpPr txBox="1"/>
          <p:nvPr/>
        </p:nvSpPr>
        <p:spPr>
          <a:xfrm>
            <a:off x="7620000" y="4038600"/>
            <a:ext cx="3048000" cy="78483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GB" sz="1500">
                <a:solidFill>
                  <a:srgbClr val="6B7680"/>
                </a:solidFill>
                <a:latin typeface="Segoe UI" panose="020B0502040204020203" pitchFamily="34" charset="0"/>
              </a:rPr>
              <a:t>Better reporting quality for operations and a stronger feedback loop for citizens.</a:t>
            </a:r>
            <a:endParaRPr lang="en-IN" sz="1500">
              <a:solidFill>
                <a:srgbClr val="6B7680"/>
              </a:solidFill>
              <a:latin typeface="Segoe UI" panose="020B0502040204020203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3F2F033-EE38-632C-08E1-571B9AB410C2}"/>
              </a:ext>
            </a:extLst>
          </p:cNvPr>
          <p:cNvSpPr txBox="1"/>
          <p:nvPr/>
        </p:nvSpPr>
        <p:spPr>
          <a:xfrm>
            <a:off x="508000" y="6553200"/>
            <a:ext cx="2794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1000">
                <a:solidFill>
                  <a:srgbClr val="AFA39C"/>
                </a:solidFill>
                <a:latin typeface="Segoe UI" panose="020B0502040204020203" pitchFamily="34" charset="0"/>
              </a:rPr>
              <a:t>Mana Rasta Investor Deck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A801D80-ACAD-0D79-A6C9-BBBE62251B91}"/>
              </a:ext>
            </a:extLst>
          </p:cNvPr>
          <p:cNvSpPr txBox="1"/>
          <p:nvPr/>
        </p:nvSpPr>
        <p:spPr>
          <a:xfrm>
            <a:off x="11430000" y="6553200"/>
            <a:ext cx="254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IN" sz="1000">
                <a:solidFill>
                  <a:srgbClr val="AFA39C"/>
                </a:solidFill>
                <a:latin typeface="Segoe UI" panose="020B0502040204020203" pitchFamily="34" charset="0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9126977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F7F1A87-C73F-D7D5-A28A-356BD1A4EC4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7A06709-516F-E42A-DF3F-6BE91D65DBC8}"/>
              </a:ext>
            </a:extLst>
          </p:cNvPr>
          <p:cNvSpPr/>
          <p:nvPr/>
        </p:nvSpPr>
        <p:spPr>
          <a:xfrm>
            <a:off x="0" y="0"/>
            <a:ext cx="4064000" cy="101600"/>
          </a:xfrm>
          <a:prstGeom prst="rect">
            <a:avLst/>
          </a:prstGeom>
          <a:solidFill>
            <a:srgbClr val="FF993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757DCB1-8B97-DB72-E9F2-8A546CEC6830}"/>
              </a:ext>
            </a:extLst>
          </p:cNvPr>
          <p:cNvSpPr/>
          <p:nvPr/>
        </p:nvSpPr>
        <p:spPr>
          <a:xfrm>
            <a:off x="4064000" y="0"/>
            <a:ext cx="4064000" cy="1016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8E28AD9-9B2F-B3DB-F957-48738AA58FC7}"/>
              </a:ext>
            </a:extLst>
          </p:cNvPr>
          <p:cNvSpPr/>
          <p:nvPr/>
        </p:nvSpPr>
        <p:spPr>
          <a:xfrm>
            <a:off x="8128000" y="0"/>
            <a:ext cx="4064000" cy="101600"/>
          </a:xfrm>
          <a:prstGeom prst="rect">
            <a:avLst/>
          </a:prstGeom>
          <a:solidFill>
            <a:srgbClr val="05854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1CD3666-D2FD-87B3-A795-53E3339B351B}"/>
              </a:ext>
            </a:extLst>
          </p:cNvPr>
          <p:cNvSpPr txBox="1"/>
          <p:nvPr/>
        </p:nvSpPr>
        <p:spPr>
          <a:xfrm>
            <a:off x="508000" y="431800"/>
            <a:ext cx="73660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GB" sz="2400" b="1">
                <a:solidFill>
                  <a:srgbClr val="002B5C"/>
                </a:solidFill>
                <a:latin typeface="Segoe UI" panose="020B0502040204020203" pitchFamily="34" charset="0"/>
              </a:rPr>
              <a:t>Citizen experience and incentive loop</a:t>
            </a:r>
            <a:endParaRPr lang="en-IN" sz="2400" b="1">
              <a:solidFill>
                <a:srgbClr val="002B5C"/>
              </a:solidFill>
              <a:latin typeface="Segoe UI" panose="020B0502040204020203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ECCC475-8904-C94D-0BF0-1CB9B8C65497}"/>
              </a:ext>
            </a:extLst>
          </p:cNvPr>
          <p:cNvSpPr txBox="1"/>
          <p:nvPr/>
        </p:nvSpPr>
        <p:spPr>
          <a:xfrm>
            <a:off x="508000" y="1016000"/>
            <a:ext cx="10414000" cy="98488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GB" sz="1600">
                <a:solidFill>
                  <a:srgbClr val="6B7680"/>
                </a:solidFill>
                <a:latin typeface="Segoe UI" panose="020B0502040204020203" pitchFamily="34" charset="0"/>
              </a:rPr>
              <a:t>? Guided capture improves evidence quality before a report enters the system</a:t>
            </a:r>
          </a:p>
          <a:p>
            <a:r>
              <a:rPr lang="en-GB" sz="1600">
                <a:solidFill>
                  <a:srgbClr val="6B7680"/>
                </a:solidFill>
                <a:latin typeface="Segoe UI" panose="020B0502040204020203" pitchFamily="34" charset="0"/>
              </a:rPr>
              <a:t>? Success states move users into tracking rather than uncertainty</a:t>
            </a:r>
          </a:p>
          <a:p>
            <a:r>
              <a:rPr lang="en-GB" sz="1600">
                <a:solidFill>
                  <a:srgbClr val="6B7680"/>
                </a:solidFill>
                <a:latin typeface="Segoe UI" panose="020B0502040204020203" pitchFamily="34" charset="0"/>
              </a:rPr>
              <a:t>? Leaderboards, badges, and rewards reinforce responsible civic participation</a:t>
            </a:r>
          </a:p>
          <a:p>
            <a:r>
              <a:rPr lang="en-GB" sz="1600">
                <a:solidFill>
                  <a:srgbClr val="6B7680"/>
                </a:solidFill>
                <a:latin typeface="Segoe UI" panose="020B0502040204020203" pitchFamily="34" charset="0"/>
              </a:rPr>
              <a:t>? The app already includes reporting, history, rewards, profile, notifications, and trust-building screens</a:t>
            </a:r>
            <a:endParaRPr lang="en-IN" sz="1600">
              <a:solidFill>
                <a:srgbClr val="6B7680"/>
              </a:solidFill>
              <a:latin typeface="Segoe UI" panose="020B0502040204020203" pitchFamily="34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BB36651-D1E8-865C-8FA8-92D51A487B36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8000" y="3200400"/>
            <a:ext cx="3302000" cy="35560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DB6049C7-32B9-1A4F-0F6A-5D2BF99B6855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64000" y="3200400"/>
            <a:ext cx="3302000" cy="355600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30295A40-A848-4F8B-2B1E-05BA2872AF03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0" y="3200400"/>
            <a:ext cx="3302000" cy="355600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92B39A86-38A3-32C6-5D4A-0986D2691C42}"/>
              </a:ext>
            </a:extLst>
          </p:cNvPr>
          <p:cNvSpPr txBox="1"/>
          <p:nvPr/>
        </p:nvSpPr>
        <p:spPr>
          <a:xfrm>
            <a:off x="508000" y="6858000"/>
            <a:ext cx="2032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1200" b="1">
                <a:solidFill>
                  <a:srgbClr val="002B5C"/>
                </a:solidFill>
                <a:latin typeface="Segoe UI" panose="020B0502040204020203" pitchFamily="34" charset="0"/>
              </a:rPr>
              <a:t>Capture module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6FF6A08-1607-78AF-78A4-F61ABE29884C}"/>
              </a:ext>
            </a:extLst>
          </p:cNvPr>
          <p:cNvSpPr txBox="1"/>
          <p:nvPr/>
        </p:nvSpPr>
        <p:spPr>
          <a:xfrm>
            <a:off x="4064000" y="6858000"/>
            <a:ext cx="2032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1200" b="1">
                <a:solidFill>
                  <a:srgbClr val="002B5C"/>
                </a:solidFill>
                <a:latin typeface="Segoe UI" panose="020B0502040204020203" pitchFamily="34" charset="0"/>
              </a:rPr>
              <a:t>Success screen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000DC34-D744-F1FB-2E3F-05D050A5DA5F}"/>
              </a:ext>
            </a:extLst>
          </p:cNvPr>
          <p:cNvSpPr txBox="1"/>
          <p:nvPr/>
        </p:nvSpPr>
        <p:spPr>
          <a:xfrm>
            <a:off x="7620000" y="6858000"/>
            <a:ext cx="2286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1200" b="1">
                <a:solidFill>
                  <a:srgbClr val="002B5C"/>
                </a:solidFill>
                <a:latin typeface="Segoe UI" panose="020B0502040204020203" pitchFamily="34" charset="0"/>
              </a:rPr>
              <a:t>Leaderboard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EB7E612-3D7C-2A1F-A209-960C7AE5A0DF}"/>
              </a:ext>
            </a:extLst>
          </p:cNvPr>
          <p:cNvSpPr txBox="1"/>
          <p:nvPr/>
        </p:nvSpPr>
        <p:spPr>
          <a:xfrm>
            <a:off x="508000" y="6553200"/>
            <a:ext cx="2794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1000">
                <a:solidFill>
                  <a:srgbClr val="AFA39C"/>
                </a:solidFill>
                <a:latin typeface="Segoe UI" panose="020B0502040204020203" pitchFamily="34" charset="0"/>
              </a:rPr>
              <a:t>Mana Rasta Investor Deck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9E64D69-C991-B85A-507F-CB343B335923}"/>
              </a:ext>
            </a:extLst>
          </p:cNvPr>
          <p:cNvSpPr txBox="1"/>
          <p:nvPr/>
        </p:nvSpPr>
        <p:spPr>
          <a:xfrm>
            <a:off x="11430000" y="6553200"/>
            <a:ext cx="254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IN" sz="1000">
                <a:solidFill>
                  <a:srgbClr val="AFA39C"/>
                </a:solidFill>
                <a:latin typeface="Segoe UI" panose="020B0502040204020203" pitchFamily="34" charset="0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1861875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91041D3-B411-43B8-666B-7B21AB36D36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CA89FAE-B67E-7A58-BC57-F4098AD9B97C}"/>
              </a:ext>
            </a:extLst>
          </p:cNvPr>
          <p:cNvSpPr/>
          <p:nvPr/>
        </p:nvSpPr>
        <p:spPr>
          <a:xfrm>
            <a:off x="0" y="0"/>
            <a:ext cx="4064000" cy="101600"/>
          </a:xfrm>
          <a:prstGeom prst="rect">
            <a:avLst/>
          </a:prstGeom>
          <a:solidFill>
            <a:srgbClr val="FF993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6A27E95-AE4F-8EAE-E6A7-E579739D1C14}"/>
              </a:ext>
            </a:extLst>
          </p:cNvPr>
          <p:cNvSpPr/>
          <p:nvPr/>
        </p:nvSpPr>
        <p:spPr>
          <a:xfrm>
            <a:off x="4064000" y="0"/>
            <a:ext cx="4064000" cy="1016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2BEB86C-356B-5715-EA0F-1A75A2617762}"/>
              </a:ext>
            </a:extLst>
          </p:cNvPr>
          <p:cNvSpPr/>
          <p:nvPr/>
        </p:nvSpPr>
        <p:spPr>
          <a:xfrm>
            <a:off x="8128000" y="0"/>
            <a:ext cx="4064000" cy="101600"/>
          </a:xfrm>
          <a:prstGeom prst="rect">
            <a:avLst/>
          </a:prstGeom>
          <a:solidFill>
            <a:srgbClr val="05854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897E7C9-0B0F-25A7-2D2F-75425DC07B9F}"/>
              </a:ext>
            </a:extLst>
          </p:cNvPr>
          <p:cNvSpPr txBox="1"/>
          <p:nvPr/>
        </p:nvSpPr>
        <p:spPr>
          <a:xfrm>
            <a:off x="508000" y="431800"/>
            <a:ext cx="82550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GB" sz="2400" b="1">
                <a:solidFill>
                  <a:srgbClr val="002B5C"/>
                </a:solidFill>
                <a:latin typeface="Segoe UI" panose="020B0502040204020203" pitchFamily="34" charset="0"/>
              </a:rPr>
              <a:t>Depth of system: dashboard, ML, and abuse resistance</a:t>
            </a:r>
            <a:endParaRPr lang="en-IN" sz="2400" b="1">
              <a:solidFill>
                <a:srgbClr val="002B5C"/>
              </a:solidFill>
              <a:latin typeface="Segoe UI" panose="020B0502040204020203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18634DB-1BC8-AF75-A37E-214874AA0102}"/>
              </a:ext>
            </a:extLst>
          </p:cNvPr>
          <p:cNvSpPr txBox="1"/>
          <p:nvPr/>
        </p:nvSpPr>
        <p:spPr>
          <a:xfrm>
            <a:off x="508000" y="1168400"/>
            <a:ext cx="5461000" cy="221599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GB" sz="1600">
                <a:solidFill>
                  <a:srgbClr val="6B7680"/>
                </a:solidFill>
                <a:latin typeface="Segoe UI" panose="020B0502040204020203" pitchFamily="34" charset="0"/>
              </a:rPr>
              <a:t>? The project already spans mobile app, backend services, admin dashboard, analytics, and a dedicated image-analysis layer</a:t>
            </a:r>
          </a:p>
          <a:p>
            <a:r>
              <a:rPr lang="en-GB" sz="1600">
                <a:solidFill>
                  <a:srgbClr val="6B7680"/>
                </a:solidFill>
                <a:latin typeface="Segoe UI" panose="020B0502040204020203" pitchFamily="34" charset="0"/>
              </a:rPr>
              <a:t>? Machine learning narrows the problem by flagging weak captures and identifying likely pothole candidates</a:t>
            </a:r>
          </a:p>
          <a:p>
            <a:r>
              <a:rPr lang="en-GB" sz="1600">
                <a:solidFill>
                  <a:srgbClr val="6B7680"/>
                </a:solidFill>
                <a:latin typeface="Segoe UI" panose="020B0502040204020203" pitchFamily="34" charset="0"/>
              </a:rPr>
              <a:t>? Fraud prevention includes moderation, duplicate-image checks, suspicious-pattern scoring, and capture logging</a:t>
            </a:r>
          </a:p>
          <a:p>
            <a:r>
              <a:rPr lang="en-GB" sz="1600">
                <a:solidFill>
                  <a:srgbClr val="6B7680"/>
                </a:solidFill>
                <a:latin typeface="Segoe UI" panose="020B0502040204020203" pitchFamily="34" charset="0"/>
              </a:rPr>
              <a:t>? Rate limiting helps protect OTP flows, report endpoints, and rewards from system abuse</a:t>
            </a:r>
            <a:endParaRPr lang="en-IN" sz="1600">
              <a:solidFill>
                <a:srgbClr val="6B7680"/>
              </a:solidFill>
              <a:latin typeface="Segoe UI" panose="020B0502040204020203" pitchFamily="34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1F7D686-4589-FC98-4011-F626C8FCF031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50000" y="1422400"/>
            <a:ext cx="5334000" cy="431800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805DEEB3-E737-242E-6E84-9A905FF52264}"/>
              </a:ext>
            </a:extLst>
          </p:cNvPr>
          <p:cNvSpPr/>
          <p:nvPr/>
        </p:nvSpPr>
        <p:spPr>
          <a:xfrm>
            <a:off x="508000" y="4572000"/>
            <a:ext cx="5334000" cy="1397000"/>
          </a:xfrm>
          <a:prstGeom prst="rect">
            <a:avLst/>
          </a:prstGeom>
          <a:solidFill>
            <a:srgbClr val="E7F8FF"/>
          </a:solidFill>
          <a:ln>
            <a:solidFill>
              <a:srgbClr val="F5A62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F4418A1-7816-FD20-5C62-F7113F6228E4}"/>
              </a:ext>
            </a:extLst>
          </p:cNvPr>
          <p:cNvSpPr txBox="1"/>
          <p:nvPr/>
        </p:nvSpPr>
        <p:spPr>
          <a:xfrm>
            <a:off x="736600" y="4902200"/>
            <a:ext cx="4876800" cy="83099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GB" sz="1600" b="1">
                <a:solidFill>
                  <a:srgbClr val="002B5C"/>
                </a:solidFill>
                <a:latin typeface="Segoe UI" panose="020B0502040204020203" pitchFamily="34" charset="0"/>
              </a:rPr>
              <a:t>ML matters because it raises the quality floor before operations teams spend time reviewing a report.</a:t>
            </a:r>
            <a:endParaRPr lang="en-IN" sz="1600" b="1">
              <a:solidFill>
                <a:srgbClr val="002B5C"/>
              </a:solidFill>
              <a:latin typeface="Segoe UI" panose="020B0502040204020203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2920875-5A5E-1573-BBD4-E2178C15F015}"/>
              </a:ext>
            </a:extLst>
          </p:cNvPr>
          <p:cNvSpPr txBox="1"/>
          <p:nvPr/>
        </p:nvSpPr>
        <p:spPr>
          <a:xfrm>
            <a:off x="508000" y="6553200"/>
            <a:ext cx="2794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1000">
                <a:solidFill>
                  <a:srgbClr val="AFA39C"/>
                </a:solidFill>
                <a:latin typeface="Segoe UI" panose="020B0502040204020203" pitchFamily="34" charset="0"/>
              </a:rPr>
              <a:t>Mana Rasta Investor Deck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F968174-6C16-D63B-26C9-F1326CF6C77C}"/>
              </a:ext>
            </a:extLst>
          </p:cNvPr>
          <p:cNvSpPr txBox="1"/>
          <p:nvPr/>
        </p:nvSpPr>
        <p:spPr>
          <a:xfrm>
            <a:off x="11430000" y="6553200"/>
            <a:ext cx="254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IN" sz="1000">
                <a:solidFill>
                  <a:srgbClr val="AFA39C"/>
                </a:solidFill>
                <a:latin typeface="Segoe UI" panose="020B0502040204020203" pitchFamily="34" charset="0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4014684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FBA4D70-F4B2-5E07-6670-A2F30F264F8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7DBC429-B8AD-5204-F5D9-39B053C63E25}"/>
              </a:ext>
            </a:extLst>
          </p:cNvPr>
          <p:cNvSpPr/>
          <p:nvPr/>
        </p:nvSpPr>
        <p:spPr>
          <a:xfrm>
            <a:off x="0" y="0"/>
            <a:ext cx="4064000" cy="101600"/>
          </a:xfrm>
          <a:prstGeom prst="rect">
            <a:avLst/>
          </a:prstGeom>
          <a:solidFill>
            <a:srgbClr val="FF993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FB59600-52DF-2A06-FA6D-AD6F0D2E4894}"/>
              </a:ext>
            </a:extLst>
          </p:cNvPr>
          <p:cNvSpPr/>
          <p:nvPr/>
        </p:nvSpPr>
        <p:spPr>
          <a:xfrm>
            <a:off x="4064000" y="0"/>
            <a:ext cx="4064000" cy="1016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102A1AC-FB35-85BC-BF45-C1687C4620B6}"/>
              </a:ext>
            </a:extLst>
          </p:cNvPr>
          <p:cNvSpPr/>
          <p:nvPr/>
        </p:nvSpPr>
        <p:spPr>
          <a:xfrm>
            <a:off x="8128000" y="0"/>
            <a:ext cx="4064000" cy="101600"/>
          </a:xfrm>
          <a:prstGeom prst="rect">
            <a:avLst/>
          </a:prstGeom>
          <a:solidFill>
            <a:srgbClr val="05854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71DB837-2C38-7E1C-CD43-157DB4FF88CC}"/>
              </a:ext>
            </a:extLst>
          </p:cNvPr>
          <p:cNvSpPr txBox="1"/>
          <p:nvPr/>
        </p:nvSpPr>
        <p:spPr>
          <a:xfrm>
            <a:off x="508000" y="431800"/>
            <a:ext cx="66040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GB" sz="2400" b="1">
                <a:solidFill>
                  <a:srgbClr val="002B5C"/>
                </a:solidFill>
                <a:latin typeface="Segoe UI" panose="020B0502040204020203" pitchFamily="34" charset="0"/>
              </a:rPr>
              <a:t>Future scope and investment path</a:t>
            </a:r>
            <a:endParaRPr lang="en-IN" sz="2400" b="1">
              <a:solidFill>
                <a:srgbClr val="002B5C"/>
              </a:solidFill>
              <a:latin typeface="Segoe UI" panose="020B0502040204020203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F6958A5-49D0-64A9-FF21-A2D095127523}"/>
              </a:ext>
            </a:extLst>
          </p:cNvPr>
          <p:cNvSpPr txBox="1"/>
          <p:nvPr/>
        </p:nvSpPr>
        <p:spPr>
          <a:xfrm>
            <a:off x="508000" y="1168400"/>
            <a:ext cx="6350000" cy="235449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GB" sz="1700">
                <a:solidFill>
                  <a:srgbClr val="6B7680"/>
                </a:solidFill>
                <a:latin typeface="Segoe UI" panose="020B0502040204020203" pitchFamily="34" charset="0"/>
              </a:rPr>
              <a:t>? Mana Rasta is pothole-first today, but the same workflow can extend to broken streetlights, footpath issues, waterlogging, and similar civic defects</a:t>
            </a:r>
          </a:p>
          <a:p>
            <a:r>
              <a:rPr lang="en-GB" sz="1700">
                <a:solidFill>
                  <a:srgbClr val="6B7680"/>
                </a:solidFill>
                <a:latin typeface="Segoe UI" panose="020B0502040204020203" pitchFamily="34" charset="0"/>
              </a:rPr>
              <a:t>? The next milestone is production hardening: pilot rollout, stronger operations support, and formalized workflow ownership</a:t>
            </a:r>
          </a:p>
          <a:p>
            <a:r>
              <a:rPr lang="en-GB" sz="1700">
                <a:solidFill>
                  <a:srgbClr val="6B7680"/>
                </a:solidFill>
                <a:latin typeface="Segoe UI" panose="020B0502040204020203" pitchFamily="34" charset="0"/>
              </a:rPr>
              <a:t>? Funding accelerates trained ML models, deployment readiness, and category expansion on top of an already-built base</a:t>
            </a:r>
          </a:p>
          <a:p>
            <a:r>
              <a:rPr lang="en-GB" sz="1700">
                <a:solidFill>
                  <a:srgbClr val="6B7680"/>
                </a:solidFill>
                <a:latin typeface="Segoe UI" panose="020B0502040204020203" pitchFamily="34" charset="0"/>
              </a:rPr>
              <a:t>? The long-term opportunity is a broader civic issue platform with better public participation and better municipal actionability</a:t>
            </a:r>
            <a:endParaRPr lang="en-IN" sz="1700">
              <a:solidFill>
                <a:srgbClr val="6B7680"/>
              </a:solidFill>
              <a:latin typeface="Segoe UI" panose="020B0502040204020203" pitchFamily="34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C9CE318-716A-1842-6A1E-EF09254AF989}"/>
              </a:ext>
            </a:extLst>
          </p:cNvPr>
          <p:cNvSpPr/>
          <p:nvPr/>
        </p:nvSpPr>
        <p:spPr>
          <a:xfrm>
            <a:off x="7493000" y="1397000"/>
            <a:ext cx="3810000" cy="3810000"/>
          </a:xfrm>
          <a:prstGeom prst="rect">
            <a:avLst/>
          </a:prstGeom>
          <a:solidFill>
            <a:srgbClr val="002B5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EF85163-876C-B735-47C9-23AC815B7C10}"/>
              </a:ext>
            </a:extLst>
          </p:cNvPr>
          <p:cNvSpPr txBox="1"/>
          <p:nvPr/>
        </p:nvSpPr>
        <p:spPr>
          <a:xfrm>
            <a:off x="7899400" y="1803400"/>
            <a:ext cx="2921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b="1">
                <a:solidFill>
                  <a:srgbClr val="FFFFFF"/>
                </a:solidFill>
                <a:latin typeface="Segoe UI" panose="020B0502040204020203" pitchFamily="34" charset="0"/>
              </a:rPr>
              <a:t>Expansion categories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F51B709-83D8-149E-DE2D-8B40462B41DA}"/>
              </a:ext>
            </a:extLst>
          </p:cNvPr>
          <p:cNvSpPr txBox="1"/>
          <p:nvPr/>
        </p:nvSpPr>
        <p:spPr>
          <a:xfrm>
            <a:off x="7899400" y="2387600"/>
            <a:ext cx="2794000" cy="3231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1500" b="1">
                <a:solidFill>
                  <a:srgbClr val="F8EEE8"/>
                </a:solidFill>
                <a:latin typeface="Segoe UI" panose="020B0502040204020203" pitchFamily="34" charset="0"/>
              </a:rPr>
              <a:t>? Broken streetlights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2C709D4-53F6-E3F2-D1C5-E15A927C9EDB}"/>
              </a:ext>
            </a:extLst>
          </p:cNvPr>
          <p:cNvSpPr txBox="1"/>
          <p:nvPr/>
        </p:nvSpPr>
        <p:spPr>
          <a:xfrm>
            <a:off x="7899400" y="2946400"/>
            <a:ext cx="2794000" cy="3231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1500" b="1">
                <a:solidFill>
                  <a:srgbClr val="F8EEE8"/>
                </a:solidFill>
                <a:latin typeface="Segoe UI" panose="020B0502040204020203" pitchFamily="34" charset="0"/>
              </a:rPr>
              <a:t>? Footpath issues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F60135F-6ED4-8800-267E-32A62C186390}"/>
              </a:ext>
            </a:extLst>
          </p:cNvPr>
          <p:cNvSpPr txBox="1"/>
          <p:nvPr/>
        </p:nvSpPr>
        <p:spPr>
          <a:xfrm>
            <a:off x="7899400" y="3505200"/>
            <a:ext cx="2794000" cy="3231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1500" b="1">
                <a:solidFill>
                  <a:srgbClr val="F8EEE8"/>
                </a:solidFill>
                <a:latin typeface="Segoe UI" panose="020B0502040204020203" pitchFamily="34" charset="0"/>
              </a:rPr>
              <a:t>? Waterlogging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ECE7D15-21BB-5F00-C459-2F8F62E4B6A4}"/>
              </a:ext>
            </a:extLst>
          </p:cNvPr>
          <p:cNvSpPr txBox="1"/>
          <p:nvPr/>
        </p:nvSpPr>
        <p:spPr>
          <a:xfrm>
            <a:off x="7899400" y="4064000"/>
            <a:ext cx="2794000" cy="3231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1500" b="1">
                <a:solidFill>
                  <a:srgbClr val="F8EEE8"/>
                </a:solidFill>
                <a:latin typeface="Segoe UI" panose="020B0502040204020203" pitchFamily="34" charset="0"/>
              </a:rPr>
              <a:t>? Other urban defects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9E1631C-0B4E-BF30-5B9A-D3384264D4D5}"/>
              </a:ext>
            </a:extLst>
          </p:cNvPr>
          <p:cNvSpPr txBox="1"/>
          <p:nvPr/>
        </p:nvSpPr>
        <p:spPr>
          <a:xfrm>
            <a:off x="508000" y="5334000"/>
            <a:ext cx="10922000" cy="70788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GB" sz="2000" b="1">
                <a:solidFill>
                  <a:srgbClr val="002B5C"/>
                </a:solidFill>
                <a:latin typeface="Segoe UI" panose="020B0502040204020203" pitchFamily="34" charset="0"/>
              </a:rPr>
              <a:t>Mana Rasta combines civic responsibility, operational practicality, and well-governed incentives into a product with real platform potential.</a:t>
            </a:r>
            <a:endParaRPr lang="en-IN" sz="2000" b="1">
              <a:solidFill>
                <a:srgbClr val="002B5C"/>
              </a:solidFill>
              <a:latin typeface="Segoe UI" panose="020B0502040204020203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EDA8FE0-B8B7-7C1A-1125-C8BEAF57A368}"/>
              </a:ext>
            </a:extLst>
          </p:cNvPr>
          <p:cNvSpPr txBox="1"/>
          <p:nvPr/>
        </p:nvSpPr>
        <p:spPr>
          <a:xfrm>
            <a:off x="508000" y="6553200"/>
            <a:ext cx="2794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1000">
                <a:solidFill>
                  <a:srgbClr val="AFA39C"/>
                </a:solidFill>
                <a:latin typeface="Segoe UI" panose="020B0502040204020203" pitchFamily="34" charset="0"/>
              </a:rPr>
              <a:t>Mana Rasta Investor Deck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94497DE-648B-8B23-F827-6D4816B448B0}"/>
              </a:ext>
            </a:extLst>
          </p:cNvPr>
          <p:cNvSpPr txBox="1"/>
          <p:nvPr/>
        </p:nvSpPr>
        <p:spPr>
          <a:xfrm>
            <a:off x="11430000" y="6553200"/>
            <a:ext cx="254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IN" sz="1000">
                <a:solidFill>
                  <a:srgbClr val="AFA39C"/>
                </a:solidFill>
                <a:latin typeface="Segoe UI" panose="020B0502040204020203" pitchFamily="34" charset="0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37022267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509</Words>
  <Application>Microsoft Office PowerPoint</Application>
  <PresentationFormat>Widescreen</PresentationFormat>
  <Paragraphs>54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1" baseType="lpstr">
      <vt:lpstr>Aptos</vt:lpstr>
      <vt:lpstr>Aptos Display</vt:lpstr>
      <vt:lpstr>Arial</vt:lpstr>
      <vt:lpstr>Georgia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SIDS</dc:creator>
  <cp:lastModifiedBy>SIDS</cp:lastModifiedBy>
  <cp:revision>1</cp:revision>
  <dcterms:created xsi:type="dcterms:W3CDTF">2026-04-15T07:36:17Z</dcterms:created>
  <dcterms:modified xsi:type="dcterms:W3CDTF">2026-04-15T07:36:17Z</dcterms:modified>
</cp:coreProperties>
</file>